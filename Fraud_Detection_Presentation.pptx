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Ex1.xml" ContentType="application/vnd.ms-office.chartex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28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file:///C:\Users\gbn\Desktop\New%20folder%20(3)\Fraud_Detection_Case_Study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'3_Risk_By_Category'!$I$1</c:f>
              <c:strCache>
                <c:ptCount val="1"/>
                <c:pt idx="0">
                  <c:v>Fraud_Cases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tint val="50000"/>
                      <a:satMod val="300000"/>
                    </a:schemeClr>
                  </a:gs>
                  <a:gs pos="35000">
                    <a:schemeClr val="accent1">
                      <a:tint val="37000"/>
                      <a:satMod val="300000"/>
                    </a:schemeClr>
                  </a:gs>
                  <a:gs pos="100000">
                    <a:schemeClr val="accent1">
                      <a:tint val="15000"/>
                      <a:satMod val="350000"/>
                    </a:schemeClr>
                  </a:gs>
                </a:gsLst>
                <a:lin ang="16200000" scaled="1"/>
              </a:gradFill>
              <a:ln>
                <a:noFill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CE56-4218-8EAD-8EB4969F8D13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tint val="50000"/>
                      <a:satMod val="300000"/>
                    </a:schemeClr>
                  </a:gs>
                  <a:gs pos="35000">
                    <a:schemeClr val="accent2">
                      <a:tint val="37000"/>
                      <a:satMod val="300000"/>
                    </a:schemeClr>
                  </a:gs>
                  <a:gs pos="100000">
                    <a:schemeClr val="accent2">
                      <a:tint val="15000"/>
                      <a:satMod val="350000"/>
                    </a:schemeClr>
                  </a:gs>
                </a:gsLst>
                <a:lin ang="16200000" scaled="1"/>
              </a:gradFill>
              <a:ln>
                <a:noFill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CE56-4218-8EAD-8EB4969F8D13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tint val="50000"/>
                      <a:satMod val="300000"/>
                    </a:schemeClr>
                  </a:gs>
                  <a:gs pos="35000">
                    <a:schemeClr val="accent3">
                      <a:tint val="37000"/>
                      <a:satMod val="300000"/>
                    </a:schemeClr>
                  </a:gs>
                  <a:gs pos="100000">
                    <a:schemeClr val="accent3">
                      <a:tint val="15000"/>
                      <a:satMod val="350000"/>
                    </a:schemeClr>
                  </a:gs>
                </a:gsLst>
                <a:lin ang="16200000" scaled="1"/>
              </a:gradFill>
              <a:ln>
                <a:noFill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5-CE56-4218-8EAD-8EB4969F8D13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tint val="50000"/>
                      <a:satMod val="300000"/>
                    </a:schemeClr>
                  </a:gs>
                  <a:gs pos="35000">
                    <a:schemeClr val="accent4">
                      <a:tint val="37000"/>
                      <a:satMod val="300000"/>
                    </a:schemeClr>
                  </a:gs>
                  <a:gs pos="100000">
                    <a:schemeClr val="accent4">
                      <a:tint val="15000"/>
                      <a:satMod val="350000"/>
                    </a:schemeClr>
                  </a:gs>
                </a:gsLst>
                <a:lin ang="16200000" scaled="1"/>
              </a:gradFill>
              <a:ln>
                <a:noFill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7-CE56-4218-8EAD-8EB4969F8D13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tint val="50000"/>
                      <a:satMod val="300000"/>
                    </a:schemeClr>
                  </a:gs>
                  <a:gs pos="35000">
                    <a:schemeClr val="accent5">
                      <a:tint val="37000"/>
                      <a:satMod val="300000"/>
                    </a:schemeClr>
                  </a:gs>
                  <a:gs pos="100000">
                    <a:schemeClr val="accent5">
                      <a:tint val="15000"/>
                      <a:satMod val="350000"/>
                    </a:schemeClr>
                  </a:gs>
                </a:gsLst>
                <a:lin ang="16200000" scaled="1"/>
              </a:gradFill>
              <a:ln>
                <a:noFill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9-CE56-4218-8EAD-8EB4969F8D13}"/>
              </c:ext>
            </c:extLst>
          </c:dPt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'3_Risk_By_Category'!$H$2:$H$6</c:f>
              <c:strCache>
                <c:ptCount val="5"/>
                <c:pt idx="0">
                  <c:v>Electronics</c:v>
                </c:pt>
                <c:pt idx="1">
                  <c:v>Travel</c:v>
                </c:pt>
                <c:pt idx="2">
                  <c:v>Clothing</c:v>
                </c:pt>
                <c:pt idx="3">
                  <c:v>Digital Services</c:v>
                </c:pt>
                <c:pt idx="4">
                  <c:v>Groceries</c:v>
                </c:pt>
              </c:strCache>
            </c:strRef>
          </c:cat>
          <c:val>
            <c:numRef>
              <c:f>'3_Risk_By_Category'!$I$2:$I$6</c:f>
              <c:numCache>
                <c:formatCode>General</c:formatCode>
                <c:ptCount val="5"/>
                <c:pt idx="0">
                  <c:v>6</c:v>
                </c:pt>
                <c:pt idx="1">
                  <c:v>2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E56-4218-8EAD-8EB4969F8D13}"/>
            </c:ext>
          </c:extLst>
        </c:ser>
        <c:dLbls>
          <c:dLblPos val="bestFi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Sheet1!$G$3</c:f>
              <c:strCache>
                <c:ptCount val="1"/>
                <c:pt idx="0">
                  <c:v>Total_Fraud_Cases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64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Sheet1!$F$4:$F$7</c:f>
              <c:strCache>
                <c:ptCount val="4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  <c:pt idx="3">
                  <c:v>Night</c:v>
                </c:pt>
              </c:strCache>
            </c:strRef>
          </c:cat>
          <c:val>
            <c:numRef>
              <c:f>Sheet1!$G$4:$G$7</c:f>
              <c:numCache>
                <c:formatCode>General</c:formatCode>
                <c:ptCount val="4"/>
                <c:pt idx="0">
                  <c:v>0</c:v>
                </c:pt>
                <c:pt idx="1">
                  <c:v>3</c:v>
                </c:pt>
                <c:pt idx="2">
                  <c:v>2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31-4DCC-8886-18E075A8544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9"/>
        <c:shape val="box"/>
        <c:axId val="1928860192"/>
        <c:axId val="26247072"/>
        <c:axId val="0"/>
      </c:bar3DChart>
      <c:catAx>
        <c:axId val="1928860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247072"/>
        <c:crosses val="autoZero"/>
        <c:auto val="1"/>
        <c:lblAlgn val="ctr"/>
        <c:lblOffset val="100"/>
        <c:noMultiLvlLbl val="0"/>
      </c:catAx>
      <c:valAx>
        <c:axId val="2624707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92886019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tx1">
                <a:lumMod val="15000"/>
                <a:lumOff val="85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7357164985957935"/>
          <c:y val="0.21828819264379992"/>
          <c:w val="0.78101641756252327"/>
          <c:h val="0.50613622554245619"/>
        </c:manualLayout>
      </c:layout>
      <c:pie3DChart>
        <c:varyColors val="1"/>
        <c:ser>
          <c:idx val="0"/>
          <c:order val="0"/>
          <c:tx>
            <c:strRef>
              <c:f>'4_Confusion_Matrix'!$B$1</c:f>
              <c:strCache>
                <c:ptCount val="1"/>
                <c:pt idx="0">
                  <c:v>Count</c:v>
                </c:pt>
              </c:strCache>
            </c:strRef>
          </c:tx>
          <c:explosion val="31"/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tint val="50000"/>
                      <a:satMod val="300000"/>
                    </a:schemeClr>
                  </a:gs>
                  <a:gs pos="35000">
                    <a:schemeClr val="accent1">
                      <a:tint val="37000"/>
                      <a:satMod val="300000"/>
                    </a:schemeClr>
                  </a:gs>
                  <a:gs pos="100000">
                    <a:schemeClr val="accent1">
                      <a:tint val="15000"/>
                      <a:satMod val="350000"/>
                    </a:schemeClr>
                  </a:gs>
                </a:gsLst>
                <a:lin ang="16200000" scaled="1"/>
              </a:gradFill>
              <a:ln>
                <a:noFill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3B8F-43FF-835C-19A1FFC4EFA2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tint val="50000"/>
                      <a:satMod val="300000"/>
                    </a:schemeClr>
                  </a:gs>
                  <a:gs pos="35000">
                    <a:schemeClr val="accent2">
                      <a:tint val="37000"/>
                      <a:satMod val="300000"/>
                    </a:schemeClr>
                  </a:gs>
                  <a:gs pos="100000">
                    <a:schemeClr val="accent2">
                      <a:tint val="15000"/>
                      <a:satMod val="350000"/>
                    </a:schemeClr>
                  </a:gs>
                </a:gsLst>
                <a:lin ang="16200000" scaled="1"/>
              </a:gradFill>
              <a:ln>
                <a:noFill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3B8F-43FF-835C-19A1FFC4EFA2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tint val="50000"/>
                      <a:satMod val="300000"/>
                    </a:schemeClr>
                  </a:gs>
                  <a:gs pos="35000">
                    <a:schemeClr val="accent3">
                      <a:tint val="37000"/>
                      <a:satMod val="300000"/>
                    </a:schemeClr>
                  </a:gs>
                  <a:gs pos="100000">
                    <a:schemeClr val="accent3">
                      <a:tint val="15000"/>
                      <a:satMod val="350000"/>
                    </a:schemeClr>
                  </a:gs>
                </a:gsLst>
                <a:lin ang="16200000" scaled="1"/>
              </a:gradFill>
              <a:ln>
                <a:noFill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5-3B8F-43FF-835C-19A1FFC4EFA2}"/>
              </c:ext>
            </c:extLst>
          </c:dPt>
          <c:dLbls>
            <c:dLbl>
              <c:idx val="2"/>
              <c:layout>
                <c:manualLayout>
                  <c:x val="-0.3157593059596287"/>
                  <c:y val="2.9227010669212856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B8F-43FF-835C-19A1FFC4EFA2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'4_Confusion_Matrix'!$A$2:$A$4</c:f>
              <c:strCache>
                <c:ptCount val="3"/>
                <c:pt idx="0">
                  <c:v>True Negative (Pass)</c:v>
                </c:pt>
                <c:pt idx="1">
                  <c:v>True Positive (Caught)</c:v>
                </c:pt>
                <c:pt idx="2">
                  <c:v>False Negative (Missed)</c:v>
                </c:pt>
              </c:strCache>
            </c:strRef>
          </c:cat>
          <c:val>
            <c:numRef>
              <c:f>'4_Confusion_Matrix'!$B$2:$B$4</c:f>
              <c:numCache>
                <c:formatCode>General</c:formatCode>
                <c:ptCount val="3"/>
                <c:pt idx="0">
                  <c:v>991</c:v>
                </c:pt>
                <c:pt idx="1">
                  <c:v>5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B8F-43FF-835C-19A1FFC4EFA2}"/>
            </c:ext>
          </c:extLst>
        </c:ser>
        <c:dLbls>
          <c:dLblPos val="bestFi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'5_Cost_Benefit'!$A$2:$A$5</cx:f>
        <cx:lvl ptCount="4">
          <cx:pt idx="0">Value Saved (Caught Fraud)</cx:pt>
          <cx:pt idx="1">Loss (Missed Fraud)</cx:pt>
          <cx:pt idx="2">Friction Cost (Blocked Legit Users)</cx:pt>
          <cx:pt idx="3">Net Model Value</cx:pt>
        </cx:lvl>
      </cx:strDim>
      <cx:numDim type="val">
        <cx:f>'5_Cost_Benefit'!$B$2:$B$5</cx:f>
        <cx:lvl ptCount="4" formatCode="\$#,##0.00">
          <cx:pt idx="0">3728.0100000000002</cx:pt>
          <cx:pt idx="1">2143.4200000000001</cx:pt>
          <cx:pt idx="2">0</cx:pt>
          <cx:pt idx="3">1584.5899999999999</cx:pt>
        </cx:lvl>
      </cx:numDim>
    </cx:data>
  </cx:chartData>
  <cx:chart>
    <cx:title pos="t" align="ctr" overlay="0"/>
    <cx:plotArea>
      <cx:plotAreaRegion>
        <cx:series layoutId="waterfall" uniqueId="{BAD8C7C2-C97A-4498-BCA2-0FE38AC043E7}">
          <cx:tx>
            <cx:txData>
              <cx:f>'5_Cost_Benefit'!$B$1</cx:f>
              <cx:v>Amount</cx:v>
            </cx:txData>
          </cx:tx>
          <cx:dataLabels pos="outEnd">
            <cx:visibility seriesName="0" categoryName="0" value="1"/>
          </cx:dataLabels>
          <cx:dataId val="0"/>
          <cx:layoutPr>
            <cx:visibility connectorLines="0"/>
            <cx:subtotals/>
          </cx:layoutPr>
        </cx:series>
      </cx:plotAreaRegion>
      <cx:axis id="0">
        <cx:catScaling gapWidth="0.25"/>
        <cx:tickLabels/>
      </cx:axis>
      <cx:axis id="1" hidden="1">
        <cx:valScaling/>
        <cx:majorGridlines/>
        <cx:tickLabels/>
      </cx:axis>
    </cx:plotArea>
    <cx:legend pos="t" align="ctr" overlay="0"/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5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/>
    <cs:fillRef idx="2">
      <cs:styleClr val="auto"/>
    </cs:fillRef>
    <cs:effectRef idx="1"/>
    <cs:fontRef idx="minor">
      <a:schemeClr val="dk1"/>
    </cs:fontRef>
    <cs:spPr/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064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65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/>
    <cs:fillRef idx="2">
      <cs:styleClr val="auto"/>
    </cs:fillRef>
    <cs:effectRef idx="1"/>
    <cs:fontRef idx="minor">
      <a:schemeClr val="dk1"/>
    </cs:fontRef>
    <cs:spPr/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97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/>
  </cs:chartArea>
  <cs:dataLabel>
    <cs:lnRef idx="0"/>
    <cs:fillRef idx="0"/>
    <cs:effectRef idx="0"/>
    <cs:fontRef idx="minor">
      <a:schemeClr val="dk1"/>
    </cs:fontRef>
    <cs:defRPr sz="1197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75000"/>
            <a:lumOff val="2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  <a:lumOff val="10000"/>
              </a:schemeClr>
            </a:gs>
            <a:gs pos="0">
              <a:schemeClr val="lt1">
                <a:lumMod val="75000"/>
                <a:alpha val="36000"/>
                <a:lumOff val="10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dk1"/>
    </cs:fontRef>
    <cs:spPr>
      <a:ln w="9525" cap="flat">
        <a:solidFill>
          <a:schemeClr val="bg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/>
  </cs:title>
  <cs:trendline>
    <cs:lnRef idx="0"/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defRPr sz="1197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0"/>
                <a:lumOff val="100000"/>
              </a:schemeClr>
            </a:gs>
            <a:gs pos="35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9955" y="4588154"/>
            <a:ext cx="7624089" cy="1710055"/>
          </a:xfrm>
        </p:spPr>
        <p:txBody>
          <a:bodyPr/>
          <a:lstStyle/>
          <a:p>
            <a:r>
              <a:rPr dirty="0"/>
              <a:t>Fraud &amp; Anomaly Detection Audit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01DE74-E592-4610-9158-C94CF1E13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787" y="1355990"/>
            <a:ext cx="7844872" cy="33604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0"/>
                <a:lumOff val="100000"/>
              </a:schemeClr>
            </a:gs>
            <a:gs pos="35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4525165" cy="4474984"/>
          </a:xfrm>
        </p:spPr>
        <p:txBody>
          <a:bodyPr>
            <a:normAutofit/>
          </a:bodyPr>
          <a:lstStyle/>
          <a:p>
            <a:r>
              <a:rPr sz="1800" dirty="0"/>
              <a:t>The Challenge: As a payment processor, we face millions of transactions where &lt;2% are fraudulent. </a:t>
            </a:r>
            <a:r>
              <a:rPr lang="en-US" sz="1800" dirty="0"/>
              <a:t>Why Standard Metrics Fail: If a model simply approves 100% of transactions, it will be 98% 'Accurate' because only 2% are fraud. But that costs the business thousands of dollars.</a:t>
            </a:r>
          </a:p>
          <a:p>
            <a:r>
              <a:rPr lang="en-US" sz="1800" dirty="0"/>
              <a:t>Dataset Stats:</a:t>
            </a:r>
          </a:p>
          <a:p>
            <a:r>
              <a:rPr lang="en-US" sz="1800" dirty="0"/>
              <a:t>  • Total Transactions: 1,000</a:t>
            </a:r>
          </a:p>
          <a:p>
            <a:r>
              <a:rPr lang="en-US" sz="1800" dirty="0"/>
              <a:t>  • Actual Fraud Cases: 9</a:t>
            </a:r>
          </a:p>
          <a:p>
            <a:r>
              <a:rPr lang="en-US" sz="1800" dirty="0"/>
              <a:t>  • Fraud Rate: 0.90%</a:t>
            </a:r>
          </a:p>
          <a:p>
            <a:r>
              <a:rPr lang="en-US" sz="1800" dirty="0"/>
              <a:t>We must detect these anomalies without blocking legitimate users.</a:t>
            </a:r>
          </a:p>
          <a:p>
            <a:endParaRPr lang="en-US" sz="1800" dirty="0"/>
          </a:p>
          <a:p>
            <a:endParaRPr sz="1800" dirty="0"/>
          </a:p>
        </p:txBody>
      </p:sp>
      <p:pic>
        <p:nvPicPr>
          <p:cNvPr id="1026" name="Picture 2" descr="The truth about #fraud prevention and detection">
            <a:extLst>
              <a:ext uri="{FF2B5EF4-FFF2-40B4-BE49-F238E27FC236}">
                <a16:creationId xmlns:a16="http://schemas.microsoft.com/office/drawing/2014/main" id="{7D7C5B50-5610-4796-9E3A-A8764AAD7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1076" y="1417638"/>
            <a:ext cx="3135724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0"/>
                <a:lumOff val="100000"/>
              </a:schemeClr>
            </a:gs>
            <a:gs pos="35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Strategic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435955" cy="4525963"/>
          </a:xfrm>
        </p:spPr>
        <p:txBody>
          <a:bodyPr>
            <a:normAutofit/>
          </a:bodyPr>
          <a:lstStyle/>
          <a:p>
            <a:r>
              <a:rPr sz="1800" dirty="0"/>
              <a:t>1. Establish Baseline Risk: Quantify current fraud rates and total financial exposure.</a:t>
            </a:r>
          </a:p>
          <a:p>
            <a:r>
              <a:rPr sz="1800" dirty="0"/>
              <a:t>2. Identify Risk Patterns: Map fraud velocity across merchant categories and time-of-day.</a:t>
            </a:r>
          </a:p>
          <a:p>
            <a:r>
              <a:rPr sz="1800" dirty="0"/>
              <a:t>3. Beyond Accuracy: Evaluate model performance using a Confusion Matrix (Precision/Recall).</a:t>
            </a:r>
          </a:p>
          <a:p>
            <a:r>
              <a:rPr sz="1800" dirty="0"/>
              <a:t>4. Cost-Benefit Analysis: Calculate the dollar cost of False Positives vs. False Negatives.</a:t>
            </a:r>
          </a:p>
          <a:p>
            <a:r>
              <a:rPr sz="1800" dirty="0"/>
              <a:t>5. Threshold Optimization: Recommend the optimal model decision threshold to maximize net revenue.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119B38-36E1-4CBD-8103-1CC38E10C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9416" y="1291431"/>
            <a:ext cx="3782494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0"/>
                <a:lumOff val="100000"/>
              </a:schemeClr>
            </a:gs>
            <a:gs pos="35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Goals 1 &amp; 2: Baseline &amp; Risk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5313" y="1600200"/>
            <a:ext cx="3166689" cy="4525963"/>
          </a:xfrm>
        </p:spPr>
        <p:txBody>
          <a:bodyPr>
            <a:normAutofit/>
          </a:bodyPr>
          <a:lstStyle/>
          <a:p>
            <a:r>
              <a:rPr sz="1800" dirty="0"/>
              <a:t>Time of Day: Highest anomaly rates occur during the 'Night' cohort.</a:t>
            </a:r>
          </a:p>
          <a:p>
            <a:r>
              <a:rPr sz="1800" dirty="0"/>
              <a:t>Merchant Categories: 'Travel' and 'Electronics' present the highest financial risk per transaction.</a:t>
            </a:r>
            <a:endParaRPr lang="en-US" sz="1800" dirty="0"/>
          </a:p>
          <a:p>
            <a:r>
              <a:rPr lang="en-US" sz="1800" dirty="0"/>
              <a:t>Finding: Fraud is not evenly distributed.</a:t>
            </a:r>
          </a:p>
          <a:p>
            <a:endParaRPr sz="1800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43802E2-0CDD-489D-9E24-B9498AED98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75077688"/>
              </p:ext>
            </p:extLst>
          </p:nvPr>
        </p:nvGraphicFramePr>
        <p:xfrm>
          <a:off x="4433455" y="176645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6EEAC1F-E174-4240-84FA-C90040CF6F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7180542"/>
              </p:ext>
            </p:extLst>
          </p:nvPr>
        </p:nvGraphicFramePr>
        <p:xfrm>
          <a:off x="4433455" y="4641272"/>
          <a:ext cx="4641272" cy="19420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0"/>
                <a:lumOff val="100000"/>
              </a:schemeClr>
            </a:gs>
            <a:gs pos="35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Goal 3: Evaluating the Confusion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274925" cy="4525963"/>
          </a:xfrm>
        </p:spPr>
        <p:txBody>
          <a:bodyPr>
            <a:normAutofit/>
          </a:bodyPr>
          <a:lstStyle/>
          <a:p>
            <a:r>
              <a:rPr sz="1800" dirty="0"/>
              <a:t>Using a risk threshold of 0.80, the model sorts transactions into 4 buckets:</a:t>
            </a:r>
          </a:p>
          <a:p>
            <a:r>
              <a:rPr sz="1800" dirty="0"/>
              <a:t>  • True Positives (TP): Fraud successfully blocked.</a:t>
            </a:r>
          </a:p>
          <a:p>
            <a:r>
              <a:rPr sz="1800" dirty="0"/>
              <a:t>  • True Negatives (TN): Legit users successfully passed.</a:t>
            </a:r>
          </a:p>
          <a:p>
            <a:r>
              <a:rPr sz="1800" dirty="0"/>
              <a:t>  • False Positives (FP): Legit users wrongly blocked (Friction).</a:t>
            </a:r>
          </a:p>
          <a:p>
            <a:r>
              <a:rPr sz="1800" dirty="0"/>
              <a:t>  • False Negatives (FN): Fraud wrongly approved (Financial Loss).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9B72ED6-A5FE-49A9-AB36-BE621F57FA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2651252"/>
              </p:ext>
            </p:extLst>
          </p:nvPr>
        </p:nvGraphicFramePr>
        <p:xfrm>
          <a:off x="5486400" y="1842494"/>
          <a:ext cx="2972853" cy="26957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0"/>
                <a:lumOff val="100000"/>
              </a:schemeClr>
            </a:gs>
            <a:gs pos="35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 4: The Business Cost of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181141" cy="3485887"/>
          </a:xfrm>
        </p:spPr>
        <p:txBody>
          <a:bodyPr>
            <a:normAutofit/>
          </a:bodyPr>
          <a:lstStyle/>
          <a:p>
            <a:r>
              <a:rPr sz="1800" dirty="0"/>
              <a:t>We assigned dollar values to the matrix:</a:t>
            </a:r>
          </a:p>
          <a:p>
            <a:r>
              <a:rPr sz="1800" dirty="0"/>
              <a:t>  • TP Value: Full transaction amount saved.</a:t>
            </a:r>
          </a:p>
          <a:p>
            <a:r>
              <a:rPr sz="1800" dirty="0"/>
              <a:t>  • FN Cost: Full transaction amount lost to chargebacks.</a:t>
            </a:r>
          </a:p>
          <a:p>
            <a:r>
              <a:rPr sz="1800" dirty="0"/>
              <a:t>  • FP Cost: Assumed $10 cost per blocked user (support tickets &amp; frustration).</a:t>
            </a:r>
          </a:p>
          <a:p>
            <a:r>
              <a:rPr sz="1800" dirty="0"/>
              <a:t>Net Model Value Currently: $1,584.59</a:t>
            </a:r>
          </a:p>
          <a:p>
            <a:r>
              <a:rPr sz="1800" dirty="0"/>
              <a:t>[Insert Chart: Cost Benefit Waterfall - Ref: Excel Sheet 5]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4" name="Chart 3">
                <a:extLst>
                  <a:ext uri="{FF2B5EF4-FFF2-40B4-BE49-F238E27FC236}">
                    <a16:creationId xmlns:a16="http://schemas.microsoft.com/office/drawing/2014/main" id="{39630F6D-5F68-4110-BB78-D390F500A107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95408068"/>
                  </p:ext>
                </p:extLst>
              </p:nvPr>
            </p:nvGraphicFramePr>
            <p:xfrm>
              <a:off x="202264" y="4062127"/>
              <a:ext cx="8811107" cy="1938359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4" name="Chart 3">
                <a:extLst>
                  <a:ext uri="{FF2B5EF4-FFF2-40B4-BE49-F238E27FC236}">
                    <a16:creationId xmlns:a16="http://schemas.microsoft.com/office/drawing/2014/main" id="{39630F6D-5F68-4110-BB78-D390F500A10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2264" y="4062127"/>
                <a:ext cx="8811107" cy="1938359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0"/>
                <a:lumOff val="100000"/>
              </a:schemeClr>
            </a:gs>
            <a:gs pos="35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Goal 5: Threshold Optimization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940710" cy="4525963"/>
          </a:xfrm>
        </p:spPr>
        <p:txBody>
          <a:bodyPr>
            <a:normAutofit/>
          </a:bodyPr>
          <a:lstStyle/>
          <a:p>
            <a:r>
              <a:rPr sz="1800" dirty="0"/>
              <a:t>Strategic Decision: Do we adjust the 0.80 threshold?</a:t>
            </a:r>
          </a:p>
          <a:p>
            <a:r>
              <a:rPr sz="1800" dirty="0"/>
              <a:t>If we LOWER the threshold (e.g., to 0.60): We catch more fraud (fewer FNs) but increase customer friction (more FPs).</a:t>
            </a:r>
          </a:p>
          <a:p>
            <a:r>
              <a:rPr sz="1800" dirty="0"/>
              <a:t>If we RAISE the threshold (e.g., to 0.90): We provide a smoother user experience (fewer FPs) but allow more fraud to slip through (more FNs).</a:t>
            </a:r>
          </a:p>
          <a:p>
            <a:r>
              <a:rPr sz="1800" dirty="0"/>
              <a:t>Recommendation: Optimize dynamically. Set stricter thresholds for high-risk categories (Travel) and looser thresholds for low-risk (Groceries).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0"/>
                <a:lumOff val="100000"/>
              </a:schemeClr>
            </a:gs>
            <a:gs pos="35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55806" cy="4525963"/>
          </a:xfrm>
        </p:spPr>
        <p:txBody>
          <a:bodyPr>
            <a:normAutofit/>
          </a:bodyPr>
          <a:lstStyle/>
          <a:p>
            <a:r>
              <a:rPr sz="1800" dirty="0"/>
              <a:t>1. Deploy Dynamic Thresholding: Adjust risk score requirements based on time of day and merchant category.</a:t>
            </a:r>
          </a:p>
          <a:p>
            <a:r>
              <a:rPr sz="1800" dirty="0"/>
              <a:t>2. Feature Engineering: Add a 'Velocity' feature (e.g., 'number of transactions in last 5 minutes') to catch rapid-fire attacks.</a:t>
            </a:r>
          </a:p>
          <a:p>
            <a:r>
              <a:rPr sz="1800" dirty="0"/>
              <a:t>3. Establish Feedback Loop: Allow customer support to label False Positives in real-time to retrain the model daily.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EE0433-8B07-47E1-9EB0-D9791064E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7017" y="1685925"/>
            <a:ext cx="2619375" cy="44918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Words>561</Words>
  <Application>Microsoft Office PowerPoint</Application>
  <PresentationFormat>On-screen Show (4:3)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Fraud &amp; Anomaly Detection Audit</vt:lpstr>
      <vt:lpstr>Executive Summary</vt:lpstr>
      <vt:lpstr>Strategic Objectives</vt:lpstr>
      <vt:lpstr>Goals 1 &amp; 2: Baseline &amp; Risk Patterns</vt:lpstr>
      <vt:lpstr>Goal 3: Evaluating the Confusion Matrix</vt:lpstr>
      <vt:lpstr>Goal 4: The Business Cost of Errors</vt:lpstr>
      <vt:lpstr>Goal 5: Threshold Optimization Strategy</vt:lpstr>
      <vt:lpstr>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 &amp; Anomaly Detection Audit</dc:title>
  <dc:subject/>
  <dc:creator/>
  <cp:keywords/>
  <dc:description>generated using python-pptx</dc:description>
  <cp:lastModifiedBy>SU-Hyd-SD Road</cp:lastModifiedBy>
  <cp:revision>21</cp:revision>
  <dcterms:created xsi:type="dcterms:W3CDTF">2013-01-27T09:14:16Z</dcterms:created>
  <dcterms:modified xsi:type="dcterms:W3CDTF">2026-04-22T08:07:03Z</dcterms:modified>
  <cp:category/>
</cp:coreProperties>
</file>